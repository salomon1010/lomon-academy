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0"/>
            <a:ext cx="4389120" cy="1280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3840480"/>
            <a:ext cx="4389120" cy="13030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371600"/>
            <a:ext cx="3749040" cy="118872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371600"/>
            <a:ext cx="73152" cy="1188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536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CHAMPION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303520" y="19933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inspiring, admirable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743200"/>
            <a:ext cx="3749040" cy="11887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2743200"/>
            <a:ext cx="73152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2907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OVERACHIEVER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33649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Pushy, annoying, excessive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0" cy="3017520"/>
          </a:xfrm>
          <a:prstGeom prst="line">
            <a:avLst/>
          </a:prstGeom>
          <a:noFill/>
          <a:ln w="19050">
            <a:solidFill>
              <a:srgbClr val="2A4A6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457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8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8229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57200" y="19659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Subordinating Conjunctions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Connotation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3291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Glory  ·  Grade 7  ·  Metz Integrated Programs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 Codes: NLB  ·  QWF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Bloom's: Remember → Apply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402336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23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will: </a:t>
            </a:r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connotations · explain how they shape tone · apply subordinating conjunctions to combine ideas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Goals — Week 1, Day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95160" y="32918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IXL: NLB · QWF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51760" cy="2651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298448"/>
            <a:ext cx="548640" cy="54864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" y="193852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positive and negative connotations of common words in sentences and passages.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88620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Bloom's: Remember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188720"/>
            <a:ext cx="2651760" cy="2651760"/>
          </a:xfrm>
          <a:prstGeom prst="rect">
            <a:avLst/>
          </a:prstGeom>
          <a:solidFill>
            <a:srgbClr val="E8F1FB"/>
          </a:solidFill>
          <a:ln w="12700">
            <a:solidFill>
              <a:srgbClr val="1A5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4528" y="1298448"/>
            <a:ext cx="548640" cy="548640"/>
          </a:xfrm>
          <a:prstGeom prst="ellipse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82696" y="193852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2377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author's word choice shapes the emotional tone a reader feels.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84448" y="388620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Bloom's: Understand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1188720"/>
            <a:ext cx="2651760" cy="26517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77456" y="129844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35624" y="1938528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63056" y="2377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subordinating conjunctions (although, because, since, while, unless) to connect two ideas in writing.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37376" y="3886200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Bloom's: Apply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week: you'll use both skills together in your writing journal.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Connotation: The Emotion Behind the Word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95160" y="32918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IXL: NLB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120640" cy="960120"/>
          </a:xfrm>
          <a:prstGeom prst="rect">
            <a:avLst/>
          </a:prstGeom>
          <a:solidFill>
            <a:srgbClr val="CCFBF1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Denotation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dictionary meaning  </a:t>
            </a:r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Connotation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emotional feeling a word carries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words have the same denotation: spending little money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651760" cy="1828800"/>
          </a:xfrm>
          <a:prstGeom prst="rect">
            <a:avLst/>
          </a:prstGeom>
          <a:solidFill>
            <a:srgbClr val="DCFCE7"/>
          </a:solidFill>
          <a:ln w="1524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68880"/>
            <a:ext cx="2651760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688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80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"Thrifty"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" y="340156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Careful, smart, responsible with money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2468880"/>
            <a:ext cx="2651760" cy="1828800"/>
          </a:xfrm>
          <a:prstGeom prst="rect">
            <a:avLst/>
          </a:prstGeom>
          <a:solidFill>
            <a:srgbClr val="F3F4F6"/>
          </a:solidFill>
          <a:ln w="1524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2468880"/>
            <a:ext cx="265176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24688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18688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"Economical"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28416" y="340156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describes spending less money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1616" y="2468880"/>
            <a:ext cx="2651760" cy="1828800"/>
          </a:xfrm>
          <a:prstGeom prst="rect">
            <a:avLst/>
          </a:prstGeom>
          <a:solidFill>
            <a:srgbClr val="FEE2E2"/>
          </a:solidFill>
          <a:ln w="15240">
            <a:solidFill>
              <a:srgbClr val="E55A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2468880"/>
            <a:ext cx="2651760" cy="329184"/>
          </a:xfrm>
          <a:prstGeom prst="rect">
            <a:avLst/>
          </a:prstGeom>
          <a:solidFill>
            <a:srgbClr val="E55A4E"/>
          </a:solidFill>
          <a:ln w="12700">
            <a:solidFill>
              <a:srgbClr val="E55A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71616" y="24688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71616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"Cheap"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81344" y="340156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Stingy, ungenerous, unwilling to spend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8412480" cy="512064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4340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two more words that mean the same thing but feel very different. What are they, and how does the feeling change?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Problem — Connotation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95160" y="32918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IXL: NLB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122033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two sentences. They describe the same action — but they feel very different. Your job: decide which word has a positive and which has a negative connotation, and explain why.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8412480" cy="1234440"/>
          </a:xfrm>
          <a:prstGeom prst="rect">
            <a:avLst/>
          </a:prstGeom>
          <a:solidFill>
            <a:srgbClr val="0A1E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65960"/>
            <a:ext cx="73152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75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politician was determined to win the election."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word: "determined"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8412480" cy="1234440"/>
          </a:xfrm>
          <a:prstGeom prst="rect">
            <a:avLst/>
          </a:prstGeom>
          <a:solidFill>
            <a:srgbClr val="1E0A0A"/>
          </a:solidFill>
          <a:ln w="12700">
            <a:solidFill>
              <a:srgbClr val="E55A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83280"/>
            <a:ext cx="73152" cy="1234440"/>
          </a:xfrm>
          <a:prstGeom prst="rect">
            <a:avLst/>
          </a:prstGeom>
          <a:solidFill>
            <a:srgbClr val="E55A4E"/>
          </a:solidFill>
          <a:ln w="12700">
            <a:solidFill>
              <a:srgbClr val="E55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politician was stubborn in his push to win the election."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word: "stubborn"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guide: </a:t>
            </a:r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word makes the politician sound strong and admirable? Which makes them sound inflexible and difficult? Write 2 sentences explaining your choice.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Subordinating Conjunctions: Connecting Two Ideas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995160" y="32918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IXL: QWF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ect">
            <a:avLst/>
          </a:prstGeom>
          <a:solidFill>
            <a:srgbClr val="E8F1FB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78992"/>
            <a:ext cx="64008" cy="685800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15568"/>
            <a:ext cx="80467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subordinating conjunction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 dependent clause to a main clause and shows how the two ideas are related — cause, contrast, time, or condition.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2651760" cy="1280160"/>
          </a:xfrm>
          <a:prstGeom prst="rect">
            <a:avLst/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01952"/>
            <a:ext cx="2651760" cy="347472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01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"because"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19019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/ reason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313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studies because she wants to succeed."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82112" y="1901952"/>
            <a:ext cx="2651760" cy="1280160"/>
          </a:xfrm>
          <a:prstGeom prst="rect">
            <a:avLst/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901952"/>
            <a:ext cx="2651760" cy="347472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901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"although"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28032" y="19019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/ surprise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73552" y="2313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"Although it rained, we played outside."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98464" y="1901952"/>
            <a:ext cx="2651760" cy="1280160"/>
          </a:xfrm>
          <a:prstGeom prst="rect">
            <a:avLst/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98464" y="1901952"/>
            <a:ext cx="2651760" cy="347472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19019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"since"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44384" y="19019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cause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9904" y="2313432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"Since you finished, you may take a break."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64992"/>
            <a:ext cx="4242816" cy="1280160"/>
          </a:xfrm>
          <a:prstGeom prst="rect">
            <a:avLst/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64992"/>
            <a:ext cx="4242816" cy="347472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649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"while"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011680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77647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listened while he explained."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3364992"/>
            <a:ext cx="4242816" cy="1280160"/>
          </a:xfrm>
          <a:prstGeom prst="rect">
            <a:avLst/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3364992"/>
            <a:ext cx="4242816" cy="347472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3649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"unless"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82512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377647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"Unless you try, you'll never know."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Problem — Subordinating Conjunctions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995160" y="32918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IXL: QWF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solidFill>
            <a:srgbClr val="E8F1FB"/>
          </a:solidFill>
          <a:ln w="7620">
            <a:solidFill>
              <a:srgbClr val="1A5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each pair of sentences into ONE sentence using the best subordinating conjunction from the box: although · because · since · while · unless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64008" cy="914400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8105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team practiced hard."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402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wanted to win the championship."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737360"/>
            <a:ext cx="2880360" cy="914400"/>
          </a:xfrm>
          <a:prstGeom prst="rect">
            <a:avLst/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8105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What's the reason?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219456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sentence: ___________________________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64008" cy="914400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803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8620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was nervous before the test."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291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still scored very well."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97880" y="2788920"/>
            <a:ext cx="2880360" cy="914400"/>
          </a:xfrm>
          <a:prstGeom prst="rect">
            <a:avLst/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286207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Surprising contrast?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24612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sentence: ___________________________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5394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840480"/>
            <a:ext cx="64008" cy="914400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31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91363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read the whole book."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3434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tell me the ending."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3840480"/>
            <a:ext cx="2880360" cy="914400"/>
          </a:xfrm>
          <a:prstGeom prst="rect">
            <a:avLst/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9136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A condition?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42976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sentence: ___________________________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8412480" cy="329184"/>
          </a:xfrm>
          <a:prstGeom prst="rect">
            <a:avLst/>
          </a:prstGeom>
          <a:solidFill>
            <a:srgbClr val="DCFCE7"/>
          </a:solidFill>
          <a:ln w="1016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6177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meaning of a sentence when you swap 'because' for 'although'? Try it with Sentence 1.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309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Putting It Together: Connotation + Conjunctions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995160" y="329184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E8F1FB"/>
          </a:solidFill>
          <a:ln w="10160">
            <a:solidFill>
              <a:srgbClr val="1A5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IXL: NLB · QWF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word choice (connotation) and conjunction (relationship) work together to completely change what a reader feels: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1480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6459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1956816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"Although Maya was determined, the competition was fierce."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57860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 = admired, strong-willed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114800" cy="1417320"/>
          </a:xfrm>
          <a:prstGeom prst="rect">
            <a:avLst/>
          </a:prstGeom>
          <a:solidFill>
            <a:srgbClr val="FEE2E2"/>
          </a:solidFill>
          <a:ln w="12700">
            <a:solidFill>
              <a:srgbClr val="E55A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73168" y="16459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55A4E"/>
          </a:solidFill>
          <a:ln w="12700">
            <a:solidFill>
              <a:srgbClr val="E55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UNSETTLING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73168" y="1956816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"Although Maya was relentless, the competition was fierce."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57860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relentless = aggressive, overwhelming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257860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"although"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82112"/>
            <a:ext cx="411480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27355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584448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saved money because she was thrifty."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4206240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thrifty = smart, admirable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82112"/>
            <a:ext cx="4114800" cy="1417320"/>
          </a:xfrm>
          <a:prstGeom prst="rect">
            <a:avLst/>
          </a:prstGeom>
          <a:solidFill>
            <a:srgbClr val="FEE2E2"/>
          </a:solidFill>
          <a:ln w="12700">
            <a:solidFill>
              <a:srgbClr val="E55A4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3273552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E55A4E"/>
          </a:solidFill>
          <a:ln w="12700">
            <a:solidFill>
              <a:srgbClr val="E55A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584448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 saved money because she was cheap."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4206240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= stingy, unappealing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4206240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206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"because"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548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Same conjunction. Same structure. Different connotation = completely different feeling for the reader.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 + Your IXL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4800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Answer Before You Go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46304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453896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connotation of the word "slender" vs "scrawny"? Which is positive?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54203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53288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these two ideas using a subordinating conjunction: "She studied all night." / "The test was tomorrow."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62102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this sentence using a word with a MORE negative connotation: "The child was curious about the new toy."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960120"/>
            <a:ext cx="4206240" cy="3840480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96012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IXL Assignment This Week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17320"/>
            <a:ext cx="3931920" cy="1207008"/>
          </a:xfrm>
          <a:prstGeom prst="rect">
            <a:avLst/>
          </a:prstGeom>
          <a:solidFill>
            <a:srgbClr val="12203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417320"/>
            <a:ext cx="64008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52704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52704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NLB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59552" y="1527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and negative connotation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9293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· Language Arts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22199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221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SmartScore ≥ 70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3931920" cy="1207008"/>
          </a:xfrm>
          <a:prstGeom prst="rect">
            <a:avLst/>
          </a:prstGeom>
          <a:solidFill>
            <a:srgbClr val="122033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834640"/>
            <a:ext cx="64008" cy="1207008"/>
          </a:xfrm>
          <a:prstGeom prst="rect">
            <a:avLst/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94436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1A56A6"/>
          </a:solidFill>
          <a:ln w="12700">
            <a:solidFill>
              <a:srgbClr val="1A5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4436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QWF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59552" y="2944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Subordinating conjunctions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33467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· Language Arts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363931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0A1628"/>
          </a:solidFill>
          <a:ln w="10160">
            <a:solidFill>
              <a:srgbClr val="1A56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SmartScore ≥ 70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4251960"/>
            <a:ext cx="4206240" cy="53035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270248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IXL: </a:t>
            </a:r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sentences in your journal. One using connotation. One using a subordinating conjunction. Log your SmartScore in the Academy Dashboard.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Glory Gr7 — Week 1 LA: Conjunctions &amp; Connotation</dc:title>
  <dc:subject>PptxGenJS Presentation</dc:subject>
  <dc:creator>Lomon Academy</dc:creator>
  <cp:lastModifiedBy>Lomon Academy</cp:lastModifiedBy>
  <cp:revision>1</cp:revision>
  <dcterms:created xsi:type="dcterms:W3CDTF">2026-04-21T01:09:30Z</dcterms:created>
  <dcterms:modified xsi:type="dcterms:W3CDTF">2026-04-21T01:09:30Z</dcterms:modified>
</cp:coreProperties>
</file>